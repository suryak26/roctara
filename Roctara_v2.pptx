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51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228600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7548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00600" y="0"/>
            <a:ext cx="4343400" cy="5143500"/>
          </a:xfrm>
          <a:prstGeom prst="rect">
            <a:avLst/>
          </a:prstGeom>
          <a:solidFill>
            <a:srgbClr val="060E28"/>
          </a:solidFill>
          <a:ln w="12700">
            <a:solidFill>
              <a:srgbClr val="060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3840480" cy="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640080"/>
            <a:ext cx="3840480" cy="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280160"/>
            <a:ext cx="3840480" cy="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920240"/>
            <a:ext cx="3840480" cy="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2560320"/>
            <a:ext cx="3840480" cy="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3200400"/>
            <a:ext cx="3840480" cy="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3840480"/>
            <a:ext cx="3840480" cy="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4480560"/>
            <a:ext cx="3840480" cy="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82880"/>
            <a:ext cx="0" cy="475488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82880"/>
            <a:ext cx="0" cy="475488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"/>
            <a:ext cx="0" cy="475488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82880"/>
            <a:ext cx="0" cy="475488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82880"/>
            <a:ext cx="0" cy="475488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82880"/>
            <a:ext cx="0" cy="475488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182880"/>
            <a:ext cx="0" cy="4754880"/>
          </a:xfrm>
          <a:prstGeom prst="line">
            <a:avLst/>
          </a:prstGeom>
          <a:noFill/>
          <a:ln w="6350">
            <a:solidFill>
              <a:srgbClr val="1A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01168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112266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011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Innovation  |  PS001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71323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ROCTARA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36576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 Climbing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" y="1901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F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Robot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65760" y="2423160"/>
            <a:ext cx="3931920" cy="0"/>
          </a:xfrm>
          <a:prstGeom prst="line">
            <a:avLst/>
          </a:prstGeom>
          <a:noFill/>
          <a:ln w="9525">
            <a:solidFill>
              <a:srgbClr val="8A9B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404 ERROR SOLVED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2871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K  ·  Sudesh Pillai  ·  Vickkraman 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163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Venkateswara College of Engineering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1074421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1A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CLIMBING ROBOT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0" y="1645920"/>
            <a:ext cx="2194560" cy="2194560"/>
          </a:xfrm>
          <a:prstGeom prst="ellipse">
            <a:avLst/>
          </a:prstGeom>
          <a:solidFill>
            <a:srgbClr val="112266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828800"/>
            <a:ext cx="1828800" cy="1828800"/>
          </a:xfrm>
          <a:prstGeom prst="ellipse">
            <a:avLst/>
          </a:prstGeom>
          <a:solidFill>
            <a:srgbClr val="0A1540"/>
          </a:solidFill>
          <a:ln w="12700">
            <a:solidFill>
              <a:srgbClr val="3AF5C0"/>
            </a:solidFill>
            <a:prstDash val="solid"/>
          </a:ln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1554480" cy="155448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5029200" y="3977640"/>
            <a:ext cx="1234440" cy="8229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0" y="4005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029200" y="43708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Coverage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6355080" y="3977640"/>
            <a:ext cx="1234440" cy="8229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55080" y="4005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TX/RX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355080" y="43708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7680960" y="3977640"/>
            <a:ext cx="1234440" cy="8229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80960" y="4005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680960" y="43708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Ready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crisis hiding in plain sight — across India and the world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" y="1051560"/>
            <a:ext cx="8467344" cy="946404"/>
          </a:xfrm>
          <a:prstGeom prst="rect">
            <a:avLst/>
          </a:prstGeom>
          <a:solidFill>
            <a:srgbClr val="1A0A0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84048" y="1069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REAL-WORLD CRISIS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" y="1349089"/>
            <a:ext cx="82296" cy="822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2618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bridge collapses in India (2021–25) → 202 deaths, 441 injuries  [Newslaundry, 2025]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" y="1544282"/>
            <a:ext cx="82296" cy="822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471835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Gambhira Bridge, Gujarat (July 2025): collapsed killing 22 — locals had warned of visible cracks for years  [Al Jazeera]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733313"/>
            <a:ext cx="82296" cy="822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667727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2,130 Indian bridges collapsed over 40 years; 10.1% due to material deterioration &amp; cracking  [Study, 1977–2017]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" y="2071117"/>
            <a:ext cx="1869948" cy="2322576"/>
          </a:xfrm>
          <a:prstGeom prst="rect">
            <a:avLst/>
          </a:prstGeom>
          <a:solidFill>
            <a:srgbClr val="131D4F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9456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762" y="26929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11480" y="2852928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risk fatal falls inspecting tall structures, bridges, and industrial tanks. No PPE fully eliminates danger at height.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368296" y="2061972"/>
            <a:ext cx="2057400" cy="2322227"/>
          </a:xfrm>
          <a:prstGeom prst="rect">
            <a:avLst/>
          </a:prstGeom>
          <a:solidFill>
            <a:srgbClr val="131D4F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476" y="2170645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42032" y="2662311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2560320" y="2852928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Scaffolding, cranes &amp; rope access are expensive. A single manual inspection can cost ₹5–20 lakhs per session.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0" y="2053881"/>
            <a:ext cx="2057400" cy="2339811"/>
          </a:xfrm>
          <a:prstGeom prst="rect">
            <a:avLst/>
          </a:prstGeom>
          <a:solidFill>
            <a:srgbClr val="131D4F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2156929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09160" y="26517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Defects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4709160" y="2852928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inspectors routinely miss hairline cracks until they propagate to structural failure. No standardised digital records.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766560" y="2053882"/>
            <a:ext cx="2057400" cy="2330317"/>
          </a:xfrm>
          <a:prstGeom prst="rect">
            <a:avLst/>
          </a:prstGeom>
          <a:solidFill>
            <a:srgbClr val="131D4F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60" y="2216366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44284" y="26929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Action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6858000" y="2852928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Gambhira collapse, residents warned of cracks years before. Lack of frequent automated monitoring cost lives.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274320" y="4544219"/>
            <a:ext cx="8595360" cy="484981"/>
          </a:xfrm>
          <a:prstGeom prst="rect">
            <a:avLst/>
          </a:prstGeom>
          <a:solidFill>
            <a:srgbClr val="112266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612625"/>
            <a:ext cx="8412480" cy="366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AF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 Report Card: Only 44.1% of U.S. bridges rated in good condition. India's Indian Bridge Management System lists 30% of culverts and 8% of major bridges in "poor condition".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goals of Project Roctara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112266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GOAL: Design and build an affordable, RF-controlled wall-climbing robot capable of real-time live-video structural inspection — with future-ready ROS integration for autonomous, industry-grade deployment.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743200" cy="1266092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191813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975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Adhesion &amp; Mobility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stable, multi-surface climbing (concrete, steel, glass) using a hybrid BLDC suction + BO DC wheel drive system.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743200" cy="1266092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4700" y="191813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1975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TX/RX Control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3408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robot via a dedicated ISM-band frequency-synced transmitter-receiver — no Wi-Fi, no latency, reliable in industrial RF environments.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2743200" cy="1266092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934659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1975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Inspection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3408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real-time video from an ESP32-CAM to the operator for immediate crack and defect identification during the inspection run.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69212"/>
            <a:ext cx="2743200" cy="1257652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" y="34022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1308" y="34465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833445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gas levels (MQ6, MQ135), temperature &amp; humidity (DHT11), and spatial proximity (ultrasonic) for safe confined-space operations.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369212"/>
            <a:ext cx="2743200" cy="1257652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03270" y="34107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20201" y="345361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Surface Coverage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8306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systematic boustrophedon (lawnmower) path planning to guarantee 100% surface scan without gaps or repeated patches.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369212"/>
            <a:ext cx="2743200" cy="1257652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95060" y="34198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56248" y="348597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Integration (Industry Ready)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79757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ROS nodes for sensor fusion, path planning, and structured defect reporting — bridging student prototype to industrial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Roctara — end-to-end RF-controlled inspection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Roctara Works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5361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57276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chassis with BLDC vacuum motor for multi-surface suction and four BO DC motors for wall traversal in any direction.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50655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2275273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entirely via a radio-frequency TX/RX system — frequency-bound at a fixed ISM channel for interference-free, sub-20ms latency wireless operation.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55" y="3118279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309524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 CAM streams live HD video feed to the operator console for real-time visual crack and defect identification.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93649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398397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nodes handle path planning (coverage algorithm), sensor data fusion, and publish structured defect location messages to a ground station dashboard.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663440" y="1051560"/>
            <a:ext cx="4114800" cy="3840480"/>
          </a:xfrm>
          <a:prstGeom prst="rect">
            <a:avLst/>
          </a:prstGeom>
          <a:solidFill>
            <a:srgbClr val="131D4F"/>
          </a:solidFill>
          <a:ln w="9525">
            <a:solidFill>
              <a:srgbClr val="3AF5C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66344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F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54880" y="1536192"/>
            <a:ext cx="54864" cy="502920"/>
          </a:xfrm>
          <a:prstGeom prst="rect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892040" y="1536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TX/RX Controller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892040" y="1764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Frequency-synced control — no Wi-Fi or Bluetooth. Works reliably in RF-noisy industrial plants, substations, and construction sites.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754880" y="2176272"/>
            <a:ext cx="54864" cy="502920"/>
          </a:xfrm>
          <a:prstGeom prst="rect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892040" y="2176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ESP32-CAM Feed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892040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sees the robot's exact view in real-time. Immediate identification of cracks, rust, or corrosion during traversal.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754880" y="2816352"/>
            <a:ext cx="54864" cy="502920"/>
          </a:xfrm>
          <a:prstGeom prst="rect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92040" y="2816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Integration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892040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robotics middleware. Enables autonomous missions, sensor fusion, and scalable fleet management in future builds.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754880" y="3456432"/>
            <a:ext cx="54864" cy="502920"/>
          </a:xfrm>
          <a:prstGeom prst="rect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892040" y="3456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Multi-Surface Grip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9204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suction + wheel system works on concrete, glass, steel. Mechanical tether prevents free-fall if suction fails.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754880" y="4096512"/>
            <a:ext cx="54864" cy="502920"/>
          </a:xfrm>
          <a:prstGeom prst="rect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92040" y="40965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Sensing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892040" y="4325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Gas, temperature, humidity, and ultrasonic data logged at each position — vital for confined space safety compliance.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5302" y="182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05150" y="466344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47847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layers of Roctara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81108"/>
            <a:ext cx="8595360" cy="1005840"/>
          </a:xfrm>
          <a:prstGeom prst="rect">
            <a:avLst/>
          </a:prstGeom>
          <a:solidFill>
            <a:srgbClr val="1A3D6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302" y="8275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OPERATOR CONTROL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83664"/>
            <a:ext cx="8595360" cy="1005840"/>
          </a:xfrm>
          <a:prstGeom prst="rect">
            <a:avLst/>
          </a:prstGeom>
          <a:solidFill>
            <a:srgbClr val="0E2E5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438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F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ROBOT HARDWARE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062888"/>
            <a:ext cx="8595360" cy="1005840"/>
          </a:xfrm>
          <a:prstGeom prst="rect">
            <a:avLst/>
          </a:prstGeom>
          <a:solidFill>
            <a:srgbClr val="0A20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302" y="31043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SENSING &amp; PERCEPTION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8142" y="4119372"/>
            <a:ext cx="8595360" cy="1005840"/>
          </a:xfrm>
          <a:prstGeom prst="rect">
            <a:avLst/>
          </a:prstGeom>
          <a:solidFill>
            <a:srgbClr val="08183A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2294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B8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ROS / SOFTWARE STACK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1115568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112266"/>
          </a:solidFill>
          <a:ln w="9525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302" y="108971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(Ground Station)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32888" y="112436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112266"/>
          </a:solidFill>
          <a:ln w="9525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112734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Controller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(ISM Band Radio)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54296" y="112436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112266"/>
          </a:solidFill>
          <a:ln w="9525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7813" y="115038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Bind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Sync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1124360"/>
            <a:ext cx="1737360" cy="594360"/>
          </a:xfrm>
          <a:prstGeom prst="roundRect">
            <a:avLst>
              <a:gd name="adj" fmla="val 7692"/>
            </a:avLst>
          </a:prstGeom>
          <a:solidFill>
            <a:srgbClr val="112266"/>
          </a:solidFill>
          <a:ln w="9525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1517" y="112734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Receiver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Robot)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1022" y="2232544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D2245"/>
          </a:solidFill>
          <a:ln w="9525">
            <a:solidFill>
              <a:srgbClr val="3AF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221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Ducted Fan Mechanism (EDF)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13319" y="2227091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D2245"/>
          </a:solidFill>
          <a:ln w="9525">
            <a:solidFill>
              <a:srgbClr val="3AF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1010" y="2229025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Speed Controller (ESC 50A)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2221640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D2245"/>
          </a:solidFill>
          <a:ln w="9525">
            <a:solidFill>
              <a:srgbClr val="3AF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3705" y="2229201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N20 High Torque Gear Motors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58968" y="2208627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D2245"/>
          </a:solidFill>
          <a:ln w="9525">
            <a:solidFill>
              <a:srgbClr val="3AF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2190691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Pack (4S)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23176" y="2199484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D2245"/>
          </a:solidFill>
          <a:ln w="9525">
            <a:solidFill>
              <a:srgbClr val="3AF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01371" y="221601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Tether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Edge Sensor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" y="3353738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A1E38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861" y="33744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 Cam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 Video Feed)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21408" y="3342659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A1E38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1010" y="3362177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MQ6 / MQ135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60294" y="3342659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A1E38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6930" y="3377653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&amp; Humidity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37163" y="3332988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A1E38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6765" y="3320855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Sensor (yet to be implemented)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01371" y="3332988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0A1E38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22473" y="3342659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Array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(Illumination)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2535" y="4459810"/>
            <a:ext cx="1554480" cy="443835"/>
          </a:xfrm>
          <a:prstGeom prst="roundRect">
            <a:avLst>
              <a:gd name="adj" fmla="val 14286"/>
            </a:avLst>
          </a:prstGeom>
          <a:solidFill>
            <a:srgbClr val="090F2E"/>
          </a:solidFill>
          <a:ln w="9525">
            <a:solidFill>
              <a:srgbClr val="BB86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4997" y="452768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Node: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Control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083425" y="4459810"/>
            <a:ext cx="1554480" cy="418514"/>
          </a:xfrm>
          <a:prstGeom prst="roundRect">
            <a:avLst>
              <a:gd name="adj" fmla="val 14286"/>
            </a:avLst>
          </a:prstGeom>
          <a:solidFill>
            <a:srgbClr val="090F2E"/>
          </a:solidFill>
          <a:ln w="9525">
            <a:solidFill>
              <a:srgbClr val="BB86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8747" y="4509047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Node: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760294" y="4459810"/>
            <a:ext cx="1554480" cy="394247"/>
          </a:xfrm>
          <a:prstGeom prst="roundRect">
            <a:avLst>
              <a:gd name="adj" fmla="val 14286"/>
            </a:avLst>
          </a:prstGeom>
          <a:solidFill>
            <a:srgbClr val="090F2E"/>
          </a:solidFill>
          <a:ln w="9525">
            <a:solidFill>
              <a:srgbClr val="BB86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66624" y="451889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Node: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49824" y="4453479"/>
            <a:ext cx="1554480" cy="394247"/>
          </a:xfrm>
          <a:prstGeom prst="roundRect">
            <a:avLst>
              <a:gd name="adj" fmla="val 14286"/>
            </a:avLst>
          </a:prstGeom>
          <a:solidFill>
            <a:srgbClr val="090F2E"/>
          </a:solidFill>
          <a:ln w="9525">
            <a:solidFill>
              <a:srgbClr val="BB86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5604" y="449058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Node: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Publisher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114032" y="4459810"/>
            <a:ext cx="1554480" cy="381938"/>
          </a:xfrm>
          <a:prstGeom prst="roundRect">
            <a:avLst>
              <a:gd name="adj" fmla="val 14286"/>
            </a:avLst>
          </a:prstGeom>
          <a:solidFill>
            <a:srgbClr val="090F2E"/>
          </a:solidFill>
          <a:ln w="9525">
            <a:solidFill>
              <a:srgbClr val="BB86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01371" y="449058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operational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88920" cy="17373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243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Bind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placed on the target surface. TX controller and RX receiver are bound at a fixed ISM frequency for a secure, dedicated control link.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88920" cy="17373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12664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Adhesion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75564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vacuum motor creates negative pressure grip. BO DC motors handle directional movement. Edge IR sensor halts motion at boundaries.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788920" cy="17373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188720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12664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Execution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175564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manually drives or activates ROS coverage planner (boustrophedon path) for systematic 100% surface scan without gaps.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2788920" cy="17373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63240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12795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36301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(future implementation of High Quality Cam) streams live video. Gas sensors and DHT11 monitor environment. Ultrasonic maintains wall-distance for stable positioning.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788920" cy="17373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063240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86200" y="3118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Inspection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91840" y="36301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visually identifies cracks, rust, or corrosion from the live feed. Marks are logged with robot pose for coordinate tagging.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2971800"/>
            <a:ext cx="2788920" cy="1737360"/>
          </a:xfrm>
          <a:prstGeom prst="rect">
            <a:avLst/>
          </a:prstGeom>
          <a:solidFill>
            <a:srgbClr val="131D4F"/>
          </a:solidFill>
          <a:ln w="6350">
            <a:solidFill>
              <a:srgbClr val="00C8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3063240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6560" y="312795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Fusion &amp; Report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72200" y="36301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aggregates all sensor data and marked defect positions. Ground station generates a JSON/PDF inspection report with defect map.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software, and frameworks powering Roctara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103120" cy="3840480"/>
          </a:xfrm>
          <a:prstGeom prst="rect">
            <a:avLst/>
          </a:prstGeom>
          <a:solidFill>
            <a:srgbClr val="131D4F"/>
          </a:solidFill>
          <a:ln w="1270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1031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515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490472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463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 CAM (live video stream)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1956816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956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Ducted Fan Mechanism (suction grip)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2467473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450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DC Motors x4 (locomotion)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132" y="3024905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944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N20 High Torque Motor Driver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" y="3538728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438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Hobbywing 50A ESC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" y="4032504"/>
            <a:ext cx="91440" cy="9144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931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Battery Pack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1051560"/>
            <a:ext cx="2103120" cy="3840480"/>
          </a:xfrm>
          <a:prstGeom prst="rect">
            <a:avLst/>
          </a:prstGeom>
          <a:solidFill>
            <a:srgbClr val="131D4F"/>
          </a:solidFill>
          <a:ln w="1270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1051560"/>
            <a:ext cx="21031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10515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F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&amp; Peripherals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24328" y="1563624"/>
            <a:ext cx="91440" cy="91440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1463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MQ6 &amp; MQ135 Gas Sensors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24328" y="2057400"/>
            <a:ext cx="91440" cy="91440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0632" y="1956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Temp / Humidity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24328" y="2551176"/>
            <a:ext cx="91440" cy="91440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2450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Sensor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24328" y="3044952"/>
            <a:ext cx="91440" cy="91440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2944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Edge Sensor (safety halt)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24328" y="3538728"/>
            <a:ext cx="91440" cy="91440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70632" y="3438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Array (illumination)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624328" y="4032504"/>
            <a:ext cx="91440" cy="91440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0632" y="3931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ESP8266 (telemetry)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1051560"/>
            <a:ext cx="2103120" cy="3840480"/>
          </a:xfrm>
          <a:prstGeom prst="rect">
            <a:avLst/>
          </a:prstGeom>
          <a:solidFill>
            <a:srgbClr val="131D4F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051560"/>
            <a:ext cx="21031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10515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18888" y="1563624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1463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TX/RX Controller (ISM Band)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18888" y="2057400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1956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Frequency Bind &amp; Sync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18888" y="2551176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450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Autonomous modes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18888" y="3044952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2944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Failsafe tether system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18888" y="353872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3438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latency &lt; 20ms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18888" y="4032504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65192" y="3931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range &gt; 200m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903720" y="1051560"/>
            <a:ext cx="2103120" cy="3840480"/>
          </a:xfrm>
          <a:prstGeom prst="rect">
            <a:avLst/>
          </a:prstGeom>
          <a:solidFill>
            <a:srgbClr val="131D4F"/>
          </a:solidFill>
          <a:ln w="12700">
            <a:solidFill>
              <a:srgbClr val="BB86F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903720" y="1051560"/>
            <a:ext cx="21031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76872" y="10515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B8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Frameworks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013448" y="1563624"/>
            <a:ext cx="91440" cy="91440"/>
          </a:xfrm>
          <a:prstGeom prst="ellipse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59752" y="1463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(image processing &amp; UI)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013448" y="2057400"/>
            <a:ext cx="91440" cy="91440"/>
          </a:xfrm>
          <a:prstGeom prst="ellipse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9752" y="1956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(frame analysis)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013448" y="2551176"/>
            <a:ext cx="91440" cy="91440"/>
          </a:xfrm>
          <a:prstGeom prst="ellipse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59752" y="2450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Noetic / Humble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013448" y="3044952"/>
            <a:ext cx="91440" cy="91440"/>
          </a:xfrm>
          <a:prstGeom prst="ellipse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9752" y="2944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rosserial (ESP32–ROS bridge)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013448" y="3538728"/>
            <a:ext cx="91440" cy="91440"/>
          </a:xfrm>
          <a:prstGeom prst="ellipse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59752" y="3438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(defect mapping)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013448" y="4032504"/>
            <a:ext cx="91440" cy="91440"/>
          </a:xfrm>
          <a:prstGeom prst="ellipse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59752" y="3931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JSON/PDF report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Roctara delivers during and after inspection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103120" cy="3251044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103120" cy="685800"/>
          </a:xfrm>
          <a:prstGeom prst="rect">
            <a:avLst/>
          </a:prstGeom>
          <a:solidFill>
            <a:srgbClr val="112266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FPS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Feed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135476"/>
            <a:ext cx="1920240" cy="2079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streams real-time footage to the operator dashboard at 15–30 FPS. Operator identifies cracks, rust, and surface anomalies instantly from a safe ground position.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32888" y="1097280"/>
            <a:ext cx="2103120" cy="3251044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097280"/>
            <a:ext cx="2103120" cy="685800"/>
          </a:xfrm>
          <a:prstGeom prst="rect">
            <a:avLst/>
          </a:prstGeom>
          <a:solidFill>
            <a:srgbClr val="112266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1155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32888" y="14813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Logging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24328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Operator-Flagged Defects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240983"/>
            <a:ext cx="1920240" cy="1868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inspection, operator flags defect frames. Each flag is timestamped and associated with the robot's current surface coordinates — forming a structured defect log.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45736" y="1097280"/>
            <a:ext cx="2103120" cy="3251044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097280"/>
            <a:ext cx="2103120" cy="685800"/>
          </a:xfrm>
          <a:prstGeom prst="rect">
            <a:avLst/>
          </a:prstGeom>
          <a:solidFill>
            <a:srgbClr val="112266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11155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Streams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45736" y="14813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37176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37176" y="2174338"/>
            <a:ext cx="1920240" cy="2173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concentration, temperature, humidity, and proximity data recorded continuously. Critical for confined space safety compliance and post-inspection environmental audit.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58584" y="1097280"/>
            <a:ext cx="2103120" cy="3251044"/>
          </a:xfrm>
          <a:prstGeom prst="rect">
            <a:avLst/>
          </a:prstGeom>
          <a:solidFill>
            <a:srgbClr val="131D4F"/>
          </a:solidFill>
          <a:ln w="6350">
            <a:solidFill>
              <a:srgbClr val="3AF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58584" y="1097280"/>
            <a:ext cx="2103120" cy="685800"/>
          </a:xfrm>
          <a:prstGeom prst="rect">
            <a:avLst/>
          </a:prstGeom>
          <a:solidFill>
            <a:srgbClr val="112266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58584" y="11155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58584" y="14813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Audit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50024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Map &amp; Report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50024" y="2278351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node compiles all flagged defects, sensor data, and robot path into a coordinate-tagged defect overlay map. Auto-generates a PDF/JSON report for maintenance teams.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the current build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519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F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ADVANTAGES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508760"/>
            <a:ext cx="109728" cy="109728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4813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 exposure to dangerous heights — no scaffolding or rope access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920240"/>
            <a:ext cx="109728" cy="109728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9202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TX/RX control is reliable in RF-noisy industrial and construction environments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142" y="2378143"/>
            <a:ext cx="109728" cy="109728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3591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Multi-surface capable — concrete, steel, and glass with hybrid suction/wheel 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1142" y="2834640"/>
            <a:ext cx="109728" cy="109728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7980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stream enables real-time operator-driven crack and defect identification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887" y="3245417"/>
            <a:ext cx="109728" cy="109728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36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integration makes it deployment-ready in professional industrial pipelines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725828"/>
            <a:ext cx="109728" cy="109728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6758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— open-source hardware stack; fraction of commercial inspection robot cost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370" y="4166851"/>
            <a:ext cx="109728" cy="109728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1148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digital defect records enable trend analysis and proactive maintenance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142" y="4590288"/>
            <a:ext cx="109728" cy="109728"/>
          </a:xfrm>
          <a:prstGeom prst="ellipse">
            <a:avLst/>
          </a:prstGeom>
          <a:solidFill>
            <a:srgbClr val="3AF5C0"/>
          </a:solidFill>
          <a:ln w="12700">
            <a:solidFill>
              <a:srgbClr val="3AF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45537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&amp; portable — can be deployed in minutes without setup infrastructure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42062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78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27447" y="1521421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Suction effectiveness reduces on very rough or highly porous surfaces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28854" y="1993392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1956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cycle ~45 minutes — swappable packs needed for extended inspections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45737" y="2496312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crack logging depends on operator attentiveness and visibility conditions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27447" y="297180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2907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ROS path planning is in active development — currently semi-manual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1078992"/>
            <a:ext cx="0" cy="3840480"/>
          </a:xfrm>
          <a:prstGeom prst="line">
            <a:avLst/>
          </a:prstGeom>
          <a:noFill/>
          <a:ln w="6350">
            <a:solidFill>
              <a:srgbClr val="8A9B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383280"/>
            <a:ext cx="4206240" cy="1463040"/>
          </a:xfrm>
          <a:prstGeom prst="rect">
            <a:avLst/>
          </a:prstGeom>
          <a:solidFill>
            <a:srgbClr val="1A0A00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694176"/>
            <a:ext cx="4023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at Drexel University (2024) note: built environment is aging faster than it can be maintained. India recorded 170 bridge collapses (2021–25) claiming 202 lives — most preceded by visible cracking that went unaddressed. Early, automated detection is not optional; it is life-saving.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Roctara achieves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solidFill>
            <a:srgbClr val="112266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Roctara demonstrates that a student-built, cost-effective wall-climbing robot can match — and surpass — traditional manual inspection methods in safety, reach, and coverage. By combining RF-controlled mobility, live CAM video inspection, multi-sensor environmental monitoring, and ROS middleware, it bridges the gap between a student prototype and an industry-deployable structural inspection platform.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2103120" cy="2361614"/>
          </a:xfrm>
          <a:prstGeom prst="rect">
            <a:avLst/>
          </a:prstGeom>
          <a:solidFill>
            <a:srgbClr val="131D4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945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4997" y="2955622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 exposure to hazardous heights. Removes the single greatest risk factor in structural inspection.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32888" y="2103120"/>
            <a:ext cx="2103120" cy="2354580"/>
          </a:xfrm>
          <a:prstGeom prst="rect">
            <a:avLst/>
          </a:prstGeom>
          <a:solidFill>
            <a:srgbClr val="131D4F"/>
          </a:solidFill>
          <a:ln w="12700">
            <a:solidFill>
              <a:srgbClr val="3AF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1945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24328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F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Accurate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24328" y="29946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eliminates guesswork. Operator sees exactly what the robot sees — from the ground.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45736" y="2103120"/>
            <a:ext cx="2103120" cy="2354580"/>
          </a:xfrm>
          <a:prstGeom prst="rect">
            <a:avLst/>
          </a:prstGeom>
          <a:solidFill>
            <a:srgbClr val="131D4F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21945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37176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Ready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37176" y="3001694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stack and modular architecture positions Roctara for real-world industrial deployment.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58584" y="2103120"/>
            <a:ext cx="2103120" cy="2361614"/>
          </a:xfrm>
          <a:prstGeom prst="rect">
            <a:avLst/>
          </a:prstGeom>
          <a:solidFill>
            <a:srgbClr val="131D4F"/>
          </a:solidFill>
          <a:ln w="12700">
            <a:solidFill>
              <a:srgbClr val="BB86F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4" y="219456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50024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B8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050024" y="30175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hardware and ROS design ensures long-term extensibility and future autonomous upgrades.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54864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Roctara goes from here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88920" cy="1691640"/>
          </a:xfrm>
          <a:prstGeom prst="rect">
            <a:avLst/>
          </a:prstGeom>
          <a:solidFill>
            <a:srgbClr val="131D4F"/>
          </a:solidFill>
          <a:ln w="9525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5256" y="12576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Edge 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1748966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lightweight CNN model (TFLite Micro on ESP32-S3 or Jetson Nano) for autonomous crack classification directly from the live video feed.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788920" cy="1691640"/>
          </a:xfrm>
          <a:prstGeom prst="rect">
            <a:avLst/>
          </a:prstGeom>
          <a:solidFill>
            <a:srgbClr val="131D4F"/>
          </a:solidFill>
          <a:ln w="9525">
            <a:solidFill>
              <a:srgbClr val="3AF5C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344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12847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ROS Autonomy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50924" y="166420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SLAM-based navigation enabling Roctara to self-navigate, map, and scan large structures without any operator input.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097280"/>
            <a:ext cx="2788920" cy="1691640"/>
          </a:xfrm>
          <a:prstGeom prst="rect">
            <a:avLst/>
          </a:prstGeom>
          <a:solidFill>
            <a:srgbClr val="131D4F"/>
          </a:solidFill>
          <a:ln w="9525">
            <a:solidFill>
              <a:srgbClr val="FF6B3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3444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12576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IP65/67 Weatherproofing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7220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Ruggedised sealed chassis for outdoor use in rain, dust, and extreme temperatures — enabling real-world infrastructure deployment year-round.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" y="2926080"/>
            <a:ext cx="2788920" cy="1691640"/>
          </a:xfrm>
          <a:prstGeom prst="rect">
            <a:avLst/>
          </a:prstGeom>
          <a:solidFill>
            <a:srgbClr val="131D4F"/>
          </a:solidFill>
          <a:ln w="9525">
            <a:solidFill>
              <a:srgbClr val="BB86FC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6324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0392" y="3084341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Multi-Robot Fleet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01633" y="351692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multi-robot coordination for simultaneous inspection of large surfaces with a centralised management dashboard.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200400" y="2926080"/>
            <a:ext cx="2788920" cy="1691640"/>
          </a:xfrm>
          <a:prstGeom prst="rect">
            <a:avLst/>
          </a:prstGeom>
          <a:solidFill>
            <a:srgbClr val="131D4F"/>
          </a:solidFill>
          <a:ln w="9525">
            <a:solidFill>
              <a:srgbClr val="FFD700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06324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08947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AI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268980" y="3429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defect data enables trend modelling — predicting structural failure risk before it becomes critical.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80760" y="2926080"/>
            <a:ext cx="2788920" cy="1691640"/>
          </a:xfrm>
          <a:prstGeom prst="rect">
            <a:avLst/>
          </a:prstGeom>
          <a:solidFill>
            <a:srgbClr val="131D4F"/>
          </a:solidFill>
          <a:ln w="9525">
            <a:solidFill>
              <a:srgbClr val="FF6B9D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06324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11112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Use Cases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172200" y="3511296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inspection, ship hull monitoring, nuclear reactor vessel assessment, and post-disaster structural triage.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9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1A50"/>
          </a:solidFill>
          <a:ln w="12700">
            <a:solidFill>
              <a:srgbClr val="0A1A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1A40"/>
          </a:solidFill>
          <a:ln w="12700">
            <a:solidFill>
              <a:srgbClr val="001A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670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your thoughts on Roctara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86000" y="3246120"/>
            <a:ext cx="4572000" cy="1280160"/>
          </a:xfrm>
          <a:prstGeom prst="rect">
            <a:avLst/>
          </a:prstGeom>
          <a:solidFill>
            <a:srgbClr val="131D4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33101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F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ERROR SOLVED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286000" y="36758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K  ·  Sudesh Pillai  ·  Vickkraman 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0" y="39502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Venkateswara College of Engineering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286000" y="42245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Innovation Domain  |  Problem Statement PS001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1792</Words>
  <Application>Microsoft Office PowerPoint</Application>
  <PresentationFormat>On-screen Show (16:9)</PresentationFormat>
  <Paragraphs>237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Roctara - Wall Climbing Inspection Robot</dc:title>
  <dc:subject>PptxGenJS Presentation</dc:subject>
  <dc:creator>PptxGenJS</dc:creator>
  <cp:lastModifiedBy>Surya K</cp:lastModifiedBy>
  <cp:revision>2</cp:revision>
  <dcterms:created xsi:type="dcterms:W3CDTF">2026-04-08T19:40:11Z</dcterms:created>
  <dcterms:modified xsi:type="dcterms:W3CDTF">2026-04-09T03:19:12Z</dcterms:modified>
</cp:coreProperties>
</file>